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97" r:id="rId4"/>
    <p:sldId id="296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B0E"/>
    <a:srgbClr val="D5D668"/>
    <a:srgbClr val="064E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CBE82-9CB9-4989-B506-9F2FFE393D70}" v="1351" dt="2026-01-28T01:11:41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364A-34EE-5BA0-12B5-929E5AA9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CDD77-D29A-8A71-EFED-E33CADBDE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7FE35-E93D-F933-1444-40E6475D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DED23-4B49-601C-18C4-6B07B00BD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14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DED6C-3CE8-D424-CC7B-B1BBBE854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AF5C2-AF84-CB08-F096-63D535D10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D558F-030F-735C-2D96-98FEE7D7C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CBCCA-8A5F-1DDF-31FA-77CBEDED8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80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C61D-4774-A7E9-B785-16F68AB5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F7E80-0F9F-D9A9-18C1-889AD488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6E959-8482-D6A2-2B09-D80A2609C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BDE8F-DC31-2FC5-F57E-A08E222C0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43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65B9-9361-5C88-6A67-6E9F9501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3D087-360B-5909-A912-BFCC8E038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F91A9-C5B5-1F0B-6547-DFDA346C2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ACAE-96A1-A997-4771-2727BD6B6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63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6EDA-3BA5-B7C8-6037-4ADC604D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F322F-8BD7-1D80-F9CA-A3DB6BA20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E6443-BFC9-C307-C450-C08CF2EEB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D22D2-37DD-9B29-EA5E-150BED93D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7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57CD-7127-2401-05B8-0E4F35C8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42437-6A28-7421-118B-44001E57C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C48D3-5616-EF51-89CC-FDA1B83A8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569C3-58E1-09C7-8B70-642C7E4D7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46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4A9F-22B6-4D24-41D1-B7A57AA2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DB168-D570-2B5F-EDBE-CC8AD1F5A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8308F-B88F-094C-E98E-0884C675C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E49B5-BBEF-3248-B479-FF3F3AA67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60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8A46C-6FFD-1A6E-CE42-4D49BD43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4DDF1-6CDA-4073-E41A-451053119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C4CAA-C8AC-707F-A80B-778E65BF0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5586F-C58A-11CD-926A-57928860E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25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6AEC-820C-9D43-2900-1AD2BA11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8F2C4-146C-5523-427E-E28C31D6F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4256A-26EA-03E0-6088-094FA03D8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70F27-7DE3-F88F-A668-575E051F7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39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45A4-54B1-BDDD-67E2-2803B7A8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01E3A-8787-8E61-7A96-3F3820B95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6A8FD-72D6-57C6-2AEF-8030DE9CE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58F3A-C6A4-35F2-B77C-D3B1D1DE9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28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EA8B-C51B-3166-9D66-09F0DDE7C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7A39F-D11A-652A-FC7D-931FA6FA7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AD18E-C5AA-2F93-9294-157CEF8F0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1116A-8E49-0460-8A4C-317A4277A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60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3A9A-B048-6DB9-53FE-BB349533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A86CB-0415-B15D-5219-4F47C12CF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210CB-73A1-479C-F8C2-FB1C4FBE8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AA86A-8D3E-703F-3078-4B92B37D7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44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92EB-ACEE-B432-7FA4-2FA6C7F5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94936-479B-B23D-D60E-E55AB6D98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0C41A-79FE-077F-D2E7-09C7D5023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2DBCE-F833-AF8F-F5F1-21018CDE4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00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1844774" y="4476300"/>
            <a:ext cx="257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Trig Substitution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674-EB63-8CB1-A781-43C74EE6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D957CD-E909-9DBE-97C3-242C827EC24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DD7A4-64F0-2B29-E978-6DAC9BCA10D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209B-C381-F683-2264-D243348F0B95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59FC0-8796-1ECD-C623-A630EE4D1B17}"/>
              </a:ext>
            </a:extLst>
          </p:cNvPr>
          <p:cNvSpPr txBox="1"/>
          <p:nvPr/>
        </p:nvSpPr>
        <p:spPr>
          <a:xfrm>
            <a:off x="0" y="1729684"/>
            <a:ext cx="118970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Last class, we reviewed some important trig identities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 that lecture, we learned how to use those identities to solve trick trigonometric integrals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 this lecture, we’re going to use those identities to solve tricky integrals involving square roots and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08C97C-FEF1-2FD5-39AB-C1E5B94B5F3A}"/>
                  </a:ext>
                </a:extLst>
              </p:cNvPr>
              <p:cNvSpPr txBox="1"/>
              <p:nvPr/>
            </p:nvSpPr>
            <p:spPr>
              <a:xfrm>
                <a:off x="1315063" y="3387460"/>
                <a:ext cx="49603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08C97C-FEF1-2FD5-39AB-C1E5B94B5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063" y="3387460"/>
                <a:ext cx="496037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71F33F-EB7E-F3C5-E157-38D4209DE915}"/>
                  </a:ext>
                </a:extLst>
              </p:cNvPr>
              <p:cNvSpPr txBox="1"/>
              <p:nvPr/>
            </p:nvSpPr>
            <p:spPr>
              <a:xfrm>
                <a:off x="5569973" y="3387460"/>
                <a:ext cx="49603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71F33F-EB7E-F3C5-E157-38D4209D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973" y="3387460"/>
                <a:ext cx="49603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620FBF-1517-0EAE-42F7-8C80AAAE0B70}"/>
                  </a:ext>
                </a:extLst>
              </p:cNvPr>
              <p:cNvSpPr txBox="1"/>
              <p:nvPr/>
            </p:nvSpPr>
            <p:spPr>
              <a:xfrm>
                <a:off x="6672279" y="5327718"/>
                <a:ext cx="2132507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620FBF-1517-0EAE-42F7-8C80AAAE0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279" y="5327718"/>
                <a:ext cx="2132507" cy="1130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D47732-BADE-1B06-33AA-D35DCE8E039C}"/>
                  </a:ext>
                </a:extLst>
              </p:cNvPr>
              <p:cNvSpPr txBox="1"/>
              <p:nvPr/>
            </p:nvSpPr>
            <p:spPr>
              <a:xfrm>
                <a:off x="3132124" y="5327719"/>
                <a:ext cx="2510110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D47732-BADE-1B06-33AA-D35DCE8E0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124" y="5327719"/>
                <a:ext cx="2510110" cy="1130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33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A39E-0D5A-5454-9FDA-B3D8FE6D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25BE73-5EDE-1B75-4949-E4A3EFE7CB3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A9135-6606-3D5A-B6DE-EA933C4BCF8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3411A-73D0-1503-EEED-F0D769D18A74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Set-Up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3ADCD2-71F1-6C52-4800-A07FE424854E}"/>
                  </a:ext>
                </a:extLst>
              </p:cNvPr>
              <p:cNvSpPr txBox="1"/>
              <p:nvPr/>
            </p:nvSpPr>
            <p:spPr>
              <a:xfrm>
                <a:off x="0" y="1729684"/>
                <a:ext cx="11897032" cy="4462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Trig Substitution is the go-to strategy for the following situations:</a:t>
                </a:r>
              </a:p>
              <a:p>
                <a:pPr lvl="1"/>
                <a:r>
                  <a:rPr lang="en-US" sz="2000" b="1" dirty="0"/>
                  <a:t>(if U-Substitution doesn’t work)</a:t>
                </a:r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  <a:p>
                <a:pPr marL="914400" lvl="1" indent="-457200">
                  <a:buAutoNum type="arabicPeriod"/>
                </a:pPr>
                <a:r>
                  <a:rPr lang="en-US" sz="2400" dirty="0"/>
                  <a:t>There’s an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of a square root or square</a:t>
                </a:r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FontTx/>
                  <a:buAutoNum type="arabicPeriod"/>
                </a:pPr>
                <a:r>
                  <a:rPr lang="en-US" sz="2400" dirty="0"/>
                  <a:t>There’s 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of a square root or square</a:t>
                </a:r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FontTx/>
                  <a:buAutoNum type="arabicPeriod"/>
                </a:pPr>
                <a:r>
                  <a:rPr lang="en-US" sz="2400" dirty="0"/>
                  <a:t>There’s 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of a square root or square</a:t>
                </a:r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3ADCD2-71F1-6C52-4800-A07FE4248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29684"/>
                <a:ext cx="11897032" cy="4462760"/>
              </a:xfrm>
              <a:prstGeom prst="rect">
                <a:avLst/>
              </a:prstGeom>
              <a:blipFill>
                <a:blip r:embed="rId3"/>
                <a:stretch>
                  <a:fillRect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D11D90-4ED6-6C62-985F-FE5CCF65EEBA}"/>
                  </a:ext>
                </a:extLst>
              </p:cNvPr>
              <p:cNvSpPr txBox="1"/>
              <p:nvPr/>
            </p:nvSpPr>
            <p:spPr>
              <a:xfrm>
                <a:off x="8952815" y="4006647"/>
                <a:ext cx="2132507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D11D90-4ED6-6C62-985F-FE5CCF65E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815" y="4006647"/>
                <a:ext cx="2132507" cy="1130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27FBDD-6427-3077-6A57-B0C89D54E1BA}"/>
                  </a:ext>
                </a:extLst>
              </p:cNvPr>
              <p:cNvSpPr txBox="1"/>
              <p:nvPr/>
            </p:nvSpPr>
            <p:spPr>
              <a:xfrm>
                <a:off x="8952815" y="2857595"/>
                <a:ext cx="2510111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27FBDD-6427-3077-6A57-B0C89D54E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815" y="2857595"/>
                <a:ext cx="2510111" cy="1130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8917D-4815-61EB-D568-81F17F7F0A49}"/>
                  </a:ext>
                </a:extLst>
              </p:cNvPr>
              <p:cNvSpPr txBox="1"/>
              <p:nvPr/>
            </p:nvSpPr>
            <p:spPr>
              <a:xfrm>
                <a:off x="8952814" y="5119916"/>
                <a:ext cx="2132507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8917D-4815-61EB-D568-81F17F7F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814" y="5119916"/>
                <a:ext cx="2132507" cy="1130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05BDFB-A506-0F19-1F3B-1323203D5883}"/>
                  </a:ext>
                </a:extLst>
              </p:cNvPr>
              <p:cNvSpPr txBox="1"/>
              <p:nvPr/>
            </p:nvSpPr>
            <p:spPr>
              <a:xfrm>
                <a:off x="553063" y="6383283"/>
                <a:ext cx="61058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/>
                  <a:t>*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represents a constant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05BDFB-A506-0F19-1F3B-1323203D5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63" y="6383283"/>
                <a:ext cx="6105832" cy="461665"/>
              </a:xfrm>
              <a:prstGeom prst="rect">
                <a:avLst/>
              </a:prstGeom>
              <a:blipFill>
                <a:blip r:embed="rId7"/>
                <a:stretch>
                  <a:fillRect l="-159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4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1957-E9B5-8212-281F-634CFD21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7C460B-08D8-9E9D-7205-28275D7A6AA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1B2507-2F85-0586-3934-E99AC495CE3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F0F0CF-8E81-E9C5-0A67-BD68876FA387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F0F0CF-8E81-E9C5-0A67-BD68876FA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3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9425F2-6FAC-C7EC-1FA1-A8C2DC63C430}"/>
                  </a:ext>
                </a:extLst>
              </p:cNvPr>
              <p:cNvSpPr txBox="1"/>
              <p:nvPr/>
            </p:nvSpPr>
            <p:spPr>
              <a:xfrm>
                <a:off x="-132735" y="1868061"/>
                <a:ext cx="11823290" cy="457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Suppose we have an integral with 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of a square root or square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want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to equal a squared term…this gets rid of our square root or simplifies our square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How do we do that?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know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If we set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𝐭𝐚𝐧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, </a:t>
                </a:r>
                <a:r>
                  <a:rPr lang="en-US" sz="2400" dirty="0"/>
                  <a:t>we get: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This is a squared term!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9425F2-6FAC-C7EC-1FA1-A8C2DC63C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735" y="1868061"/>
                <a:ext cx="11823290" cy="4571829"/>
              </a:xfrm>
              <a:prstGeom prst="rect">
                <a:avLst/>
              </a:prstGeom>
              <a:blipFill>
                <a:blip r:embed="rId4"/>
                <a:stretch>
                  <a:fillRect t="-933" b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303F70-6AF6-07E9-AAB1-83C3D3904BF2}"/>
                  </a:ext>
                </a:extLst>
              </p:cNvPr>
              <p:cNvSpPr txBox="1"/>
              <p:nvPr/>
            </p:nvSpPr>
            <p:spPr>
              <a:xfrm>
                <a:off x="1027472" y="4370686"/>
                <a:ext cx="49603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303F70-6AF6-07E9-AAB1-83C3D3904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72" y="4370686"/>
                <a:ext cx="496037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84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9780-1687-A798-D9E5-57FE768A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737C7B-60A1-FE04-028B-BE8AC1865C56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22F320-12E7-A74D-C2B2-55F2D16155D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8A2531-6AA9-4522-3B72-054C490FC774}"/>
                  </a:ext>
                </a:extLst>
              </p:cNvPr>
              <p:cNvSpPr txBox="1"/>
              <p:nvPr/>
            </p:nvSpPr>
            <p:spPr>
              <a:xfrm>
                <a:off x="-132736" y="1868061"/>
                <a:ext cx="12098593" cy="4486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How does this work in practice?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Consider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have a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+9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a square root, and U-Substitution doesn’t work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By Trig Substitution, we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Now we rewrite our integral in terms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. </a:t>
                </a:r>
                <a:r>
                  <a:rPr lang="en-US" sz="2400" b="1" dirty="0"/>
                  <a:t>This also means rewriting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𝒅𝒙</m:t>
                    </m:r>
                  </m:oMath>
                </a14:m>
                <a:r>
                  <a:rPr lang="en-US" sz="2400" b="1" dirty="0"/>
                  <a:t> in terms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en-US" sz="2400" b="1" dirty="0"/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⇒        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8A2531-6AA9-4522-3B72-054C490FC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736" y="1868061"/>
                <a:ext cx="12098593" cy="4486869"/>
              </a:xfrm>
              <a:prstGeom prst="rect">
                <a:avLst/>
              </a:prstGeom>
              <a:blipFill>
                <a:blip r:embed="rId3"/>
                <a:stretch>
                  <a:fillRect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0B278E-E541-E4F3-0F3C-688151602D87}"/>
                  </a:ext>
                </a:extLst>
              </p:cNvPr>
              <p:cNvSpPr txBox="1"/>
              <p:nvPr/>
            </p:nvSpPr>
            <p:spPr>
              <a:xfrm>
                <a:off x="1735937" y="2367644"/>
                <a:ext cx="2148024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0B278E-E541-E4F3-0F3C-68815160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37" y="2367644"/>
                <a:ext cx="2148024" cy="968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53FF9A-311E-8648-A63A-8D01DD9FA4B0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53FF9A-311E-8648-A63A-8D01DD9FA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5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80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0518-7B71-DC17-B8D9-A8026709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80C281-7A39-E7DD-5E0C-3DB85E375754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40A354-75A0-89AD-E65A-6662389DF4B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8CDFBE-31B7-E951-38BF-810C44AB4B83}"/>
                  </a:ext>
                </a:extLst>
              </p:cNvPr>
              <p:cNvSpPr txBox="1"/>
              <p:nvPr/>
            </p:nvSpPr>
            <p:spPr>
              <a:xfrm>
                <a:off x="229261" y="1873080"/>
                <a:ext cx="10862076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ad>
                                <m:radPr>
                                  <m:degHide m:val="on"/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0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ad>
                                    <m:radPr>
                                      <m:degHide m:val="on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dirty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2400" b="0" i="0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dirty="0">
                                              <a:latin typeface="Cambria Math" panose="02040503050406030204" pitchFamily="18" charset="0"/>
                                            </a:rPr>
                                            <m:t>tan</m:t>
                                          </m:r>
                                        </m:e>
                                        <m:sup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1)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8CDFBE-31B7-E951-38BF-810C44AB4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61" y="1873080"/>
                <a:ext cx="10862076" cy="968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8E1C7-D2B8-E403-7574-3BACB8516B12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8E1C7-D2B8-E403-7574-3BACB8516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4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AB2BCE-E9C1-DA52-0010-89139278C90D}"/>
                  </a:ext>
                </a:extLst>
              </p:cNvPr>
              <p:cNvSpPr txBox="1"/>
              <p:nvPr/>
            </p:nvSpPr>
            <p:spPr>
              <a:xfrm>
                <a:off x="226143" y="3269607"/>
                <a:ext cx="9043052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ad>
                                <m:radPr>
                                  <m:degHide m:val="on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dirty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0" dirty="0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i="0" dirty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AB2BCE-E9C1-DA52-0010-89139278C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3" y="3269607"/>
                <a:ext cx="9043052" cy="968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87C317-89CA-C677-4E18-DDA0CCC7993A}"/>
                  </a:ext>
                </a:extLst>
              </p:cNvPr>
              <p:cNvSpPr txBox="1"/>
              <p:nvPr/>
            </p:nvSpPr>
            <p:spPr>
              <a:xfrm>
                <a:off x="226143" y="4666135"/>
                <a:ext cx="6686510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dirty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87C317-89CA-C677-4E18-DDA0CCC79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3" y="4666135"/>
                <a:ext cx="6686510" cy="9687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751BE0-FC0F-AD64-086D-0FD0F8F38C45}"/>
                  </a:ext>
                </a:extLst>
              </p:cNvPr>
              <p:cNvSpPr txBox="1"/>
              <p:nvPr/>
            </p:nvSpPr>
            <p:spPr>
              <a:xfrm>
                <a:off x="-200483" y="5759150"/>
                <a:ext cx="10416199" cy="10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Using U-Substitution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we get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751BE0-FC0F-AD64-086D-0FD0F8F38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483" y="5759150"/>
                <a:ext cx="10416199" cy="1023165"/>
              </a:xfrm>
              <a:prstGeom prst="rect">
                <a:avLst/>
              </a:prstGeom>
              <a:blipFill>
                <a:blip r:embed="rId7"/>
                <a:stretch>
                  <a:fillRect b="-13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26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DB5F-370A-8308-CB48-D2A4D8C3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A25231-F157-80D2-1E55-5093A6B3E18F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9B932C-EDC5-8E7D-2B41-BD5EFD648E5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9EC7D2-1F5E-7C58-350D-9D78DCE9C3F6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9EC7D2-1F5E-7C58-350D-9D78DCE9C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3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57FEC3-95BB-D9BF-C6EA-D764DE5FE340}"/>
                  </a:ext>
                </a:extLst>
              </p:cNvPr>
              <p:cNvSpPr txBox="1"/>
              <p:nvPr/>
            </p:nvSpPr>
            <p:spPr>
              <a:xfrm>
                <a:off x="179437" y="1863042"/>
                <a:ext cx="9859297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we need to do final simplifications: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 have an answer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How do I get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57FEC3-95BB-D9BF-C6EA-D764DE5FE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7" y="1863042"/>
                <a:ext cx="9859297" cy="1938992"/>
              </a:xfrm>
              <a:prstGeom prst="rect">
                <a:avLst/>
              </a:prstGeom>
              <a:blipFill>
                <a:blip r:embed="rId4"/>
                <a:stretch>
                  <a:fillRect l="-927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6240FE1-8DF5-ED6C-2BC8-25A1084E1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37" y="4030843"/>
            <a:ext cx="7673445" cy="27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5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42AA-DD8E-3D2B-79B0-1B0647CB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BD17DF-F088-BA1E-3849-C891B65963BA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EC6BD2-D72B-F735-8C59-41DD911FE51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B9D3BF-E99B-EB77-3D14-411BEDA35264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B9D3BF-E99B-EB77-3D14-411BEDA35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3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0FA825-35DD-0FE1-4E86-F24DC2CF86DB}"/>
                  </a:ext>
                </a:extLst>
              </p:cNvPr>
              <p:cNvSpPr txBox="1"/>
              <p:nvPr/>
            </p:nvSpPr>
            <p:spPr>
              <a:xfrm>
                <a:off x="179437" y="1863042"/>
                <a:ext cx="9859297" cy="584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know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0FA825-35DD-0FE1-4E86-F24DC2CF8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7" y="1863042"/>
                <a:ext cx="9859297" cy="584584"/>
              </a:xfrm>
              <a:prstGeom prst="rect">
                <a:avLst/>
              </a:prstGeom>
              <a:blipFill>
                <a:blip r:embed="rId4"/>
                <a:stretch>
                  <a:fillRect l="-927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E7FADCD-FB71-BF24-0B8A-462190464F44}"/>
              </a:ext>
            </a:extLst>
          </p:cNvPr>
          <p:cNvSpPr/>
          <p:nvPr/>
        </p:nvSpPr>
        <p:spPr>
          <a:xfrm flipH="1">
            <a:off x="772446" y="2632587"/>
            <a:ext cx="3913239" cy="1592826"/>
          </a:xfrm>
          <a:prstGeom prst="rt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551F1-FD70-0441-533C-2569FB55E167}"/>
                  </a:ext>
                </a:extLst>
              </p:cNvPr>
              <p:cNvSpPr txBox="1"/>
              <p:nvPr/>
            </p:nvSpPr>
            <p:spPr>
              <a:xfrm>
                <a:off x="4703505" y="3167390"/>
                <a:ext cx="3195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551F1-FD70-0441-533C-2569FB55E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505" y="3167390"/>
                <a:ext cx="31954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5BCDFB-09AB-BB8D-5BD8-57D04976012F}"/>
                  </a:ext>
                </a:extLst>
              </p:cNvPr>
              <p:cNvSpPr txBox="1"/>
              <p:nvPr/>
            </p:nvSpPr>
            <p:spPr>
              <a:xfrm>
                <a:off x="2569291" y="4187105"/>
                <a:ext cx="3195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5BCDFB-09AB-BB8D-5BD8-57D049760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1" y="4187105"/>
                <a:ext cx="31954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526974-7B82-E2C0-1B95-0F1AD72F0B96}"/>
                  </a:ext>
                </a:extLst>
              </p:cNvPr>
              <p:cNvSpPr txBox="1"/>
              <p:nvPr/>
            </p:nvSpPr>
            <p:spPr>
              <a:xfrm>
                <a:off x="2013769" y="3692723"/>
                <a:ext cx="5555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526974-7B82-E2C0-1B95-0F1AD72F0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769" y="3692723"/>
                <a:ext cx="55552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c 12">
            <a:extLst>
              <a:ext uri="{FF2B5EF4-FFF2-40B4-BE49-F238E27FC236}">
                <a16:creationId xmlns:a16="http://schemas.microsoft.com/office/drawing/2014/main" id="{DC9379E2-1A65-3239-E763-F46C3A73A8E6}"/>
              </a:ext>
            </a:extLst>
          </p:cNvPr>
          <p:cNvSpPr/>
          <p:nvPr/>
        </p:nvSpPr>
        <p:spPr>
          <a:xfrm>
            <a:off x="1779639" y="3817408"/>
            <a:ext cx="319548" cy="6096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559D3F-4B48-0EF4-F56B-CC22FE4E67D7}"/>
                  </a:ext>
                </a:extLst>
              </p:cNvPr>
              <p:cNvSpPr txBox="1"/>
              <p:nvPr/>
            </p:nvSpPr>
            <p:spPr>
              <a:xfrm rot="20304291">
                <a:off x="1779640" y="3063982"/>
                <a:ext cx="319548" cy="645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+9</m:t>
                          </m:r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559D3F-4B48-0EF4-F56B-CC22FE4E6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04291">
                <a:off x="1779640" y="3063982"/>
                <a:ext cx="319548" cy="645177"/>
              </a:xfrm>
              <a:prstGeom prst="rect">
                <a:avLst/>
              </a:prstGeom>
              <a:blipFill>
                <a:blip r:embed="rId8"/>
                <a:stretch>
                  <a:fillRect t="-38655" r="-16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4DC9C-2AB7-A73E-BC33-0E475521E55D}"/>
                  </a:ext>
                </a:extLst>
              </p:cNvPr>
              <p:cNvSpPr txBox="1"/>
              <p:nvPr/>
            </p:nvSpPr>
            <p:spPr>
              <a:xfrm>
                <a:off x="179437" y="4757790"/>
                <a:ext cx="3931059" cy="602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Therefore,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4DC9C-2AB7-A73E-BC33-0E475521E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7" y="4757790"/>
                <a:ext cx="3931059" cy="602665"/>
              </a:xfrm>
              <a:prstGeom prst="rect">
                <a:avLst/>
              </a:prstGeom>
              <a:blipFill>
                <a:blip r:embed="rId9"/>
                <a:stretch>
                  <a:fillRect l="-2326" b="-8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538C8D-CF2E-80CF-DA32-9B65D33F4D0F}"/>
                  </a:ext>
                </a:extLst>
              </p:cNvPr>
              <p:cNvSpPr txBox="1"/>
              <p:nvPr/>
            </p:nvSpPr>
            <p:spPr>
              <a:xfrm>
                <a:off x="-200947" y="5514658"/>
                <a:ext cx="8381386" cy="1269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+9</m:t>
                              </m:r>
                            </m:e>
                          </m:rad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538C8D-CF2E-80CF-DA32-9B65D33F4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947" y="5514658"/>
                <a:ext cx="8381386" cy="12690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92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B462-E8FD-E6D9-EF84-407B06285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60080D-D96F-D4B5-6281-415306069AF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476126-2DA2-6748-8724-DB5A010FEA2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3AB6ED-E2BF-2944-28F2-E4736156D0E3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3AB6ED-E2BF-2944-28F2-E4736156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3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85F50E-C5A1-F6ED-C4A3-20DF685D6104}"/>
                  </a:ext>
                </a:extLst>
              </p:cNvPr>
              <p:cNvSpPr txBox="1"/>
              <p:nvPr/>
            </p:nvSpPr>
            <p:spPr>
              <a:xfrm>
                <a:off x="-132735" y="1868061"/>
                <a:ext cx="11823290" cy="457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Suppose we have an integral with 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of a square root or square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want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to equal a squared term…this gets rid of our square root or simplifies our square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How do we do that?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know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If we set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, </a:t>
                </a:r>
                <a:r>
                  <a:rPr lang="en-US" sz="2400" dirty="0"/>
                  <a:t>we get: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This is a squared term!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85F50E-C5A1-F6ED-C4A3-20DF685D6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735" y="1868061"/>
                <a:ext cx="11823290" cy="4571829"/>
              </a:xfrm>
              <a:prstGeom prst="rect">
                <a:avLst/>
              </a:prstGeom>
              <a:blipFill>
                <a:blip r:embed="rId4"/>
                <a:stretch>
                  <a:fillRect t="-933" b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C40EB1-2B5A-217A-CEEF-34529043154F}"/>
                  </a:ext>
                </a:extLst>
              </p:cNvPr>
              <p:cNvSpPr txBox="1"/>
              <p:nvPr/>
            </p:nvSpPr>
            <p:spPr>
              <a:xfrm>
                <a:off x="1135627" y="4370686"/>
                <a:ext cx="49603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C40EB1-2B5A-217A-CEEF-345290431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627" y="4370686"/>
                <a:ext cx="496037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19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FCD7E-2088-8815-429F-EECFF868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88118-3093-DF5A-DC45-A2377C693A82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FFFCE5-DC82-6933-6FDE-48DE4F85CA1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EC8401-8084-3FDC-C778-DA41A5901555}"/>
                  </a:ext>
                </a:extLst>
              </p:cNvPr>
              <p:cNvSpPr txBox="1"/>
              <p:nvPr/>
            </p:nvSpPr>
            <p:spPr>
              <a:xfrm>
                <a:off x="-132735" y="1868061"/>
                <a:ext cx="11823290" cy="450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How does this work in practice?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Consider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have a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a square root, and U-Substitution doesn’t work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By Trig Substitution, we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Now we rewrite our integral in terms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. This also means rewriting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 in terms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⇒        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EC8401-8084-3FDC-C778-DA41A5901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735" y="1868061"/>
                <a:ext cx="11823290" cy="4508991"/>
              </a:xfrm>
              <a:prstGeom prst="rect">
                <a:avLst/>
              </a:prstGeom>
              <a:blipFill>
                <a:blip r:embed="rId3"/>
                <a:stretch>
                  <a:fillRect t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5B3C73-B22F-4A4B-3700-CA3A45650C56}"/>
                  </a:ext>
                </a:extLst>
              </p:cNvPr>
              <p:cNvSpPr txBox="1"/>
              <p:nvPr/>
            </p:nvSpPr>
            <p:spPr>
              <a:xfrm>
                <a:off x="1735937" y="2367644"/>
                <a:ext cx="1825115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5B3C73-B22F-4A4B-3700-CA3A45650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37" y="2367644"/>
                <a:ext cx="1825115" cy="968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425193-8776-8808-7AE5-AFCB34663180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425193-8776-8808-7AE5-AFCB3466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5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270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0A2FB-D47E-62D5-92D2-21F81520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1926B5-5810-66A4-FB1C-A0EED5E12029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5DC55-0CB7-63D5-CBA5-474AC55C58A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C45A70-5E95-FAD8-F9FD-784B650C795D}"/>
                  </a:ext>
                </a:extLst>
              </p:cNvPr>
              <p:cNvSpPr txBox="1"/>
              <p:nvPr/>
            </p:nvSpPr>
            <p:spPr>
              <a:xfrm>
                <a:off x="229261" y="1873080"/>
                <a:ext cx="7017947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dirty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rad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C45A70-5E95-FAD8-F9FD-784B650C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61" y="1873080"/>
                <a:ext cx="7017947" cy="968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4D1CA3-CF9C-9B88-D13D-066397B72C66}"/>
                  </a:ext>
                </a:extLst>
              </p:cNvPr>
              <p:cNvSpPr txBox="1"/>
              <p:nvPr/>
            </p:nvSpPr>
            <p:spPr>
              <a:xfrm>
                <a:off x="226143" y="3269607"/>
                <a:ext cx="4866524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4D1CA3-CF9C-9B88-D13D-066397B72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3" y="3269607"/>
                <a:ext cx="4866524" cy="968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5EC4A0-1D99-9BCB-552C-A311C11614C4}"/>
                  </a:ext>
                </a:extLst>
              </p:cNvPr>
              <p:cNvSpPr txBox="1"/>
              <p:nvPr/>
            </p:nvSpPr>
            <p:spPr>
              <a:xfrm>
                <a:off x="226143" y="4666135"/>
                <a:ext cx="2407454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5EC4A0-1D99-9BCB-552C-A311C1161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3" y="4666135"/>
                <a:ext cx="2407454" cy="968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E7249B-4B1D-E231-FB40-3216742814D5}"/>
                  </a:ext>
                </a:extLst>
              </p:cNvPr>
              <p:cNvSpPr txBox="1"/>
              <p:nvPr/>
            </p:nvSpPr>
            <p:spPr>
              <a:xfrm>
                <a:off x="-180818" y="5831830"/>
                <a:ext cx="10416199" cy="631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arcsin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E7249B-4B1D-E231-FB40-321674281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818" y="5831830"/>
                <a:ext cx="10416199" cy="631968"/>
              </a:xfrm>
              <a:prstGeom prst="rect">
                <a:avLst/>
              </a:prstGeom>
              <a:blipFill>
                <a:blip r:embed="rId6"/>
                <a:stretch>
                  <a:fillRect b="-8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931B4-7DC8-6720-4EE3-208895CE810E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931B4-7DC8-6720-4EE3-208895CE8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7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458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91BE-534F-245C-8DAC-12EB2E10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8AE72E-085B-2DC5-C7DE-60C0B80D80E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86E853-6EBC-840F-4AF6-764E4087E1A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CC4B88-7949-DD6C-F924-2ACC477F3D5A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3: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CC4B88-7949-DD6C-F924-2ACC477F3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3"/>
                <a:stretch>
                  <a:fillRect t="-11111" r="-565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6FA30B-925A-54FE-754B-F0EB6771B23F}"/>
                  </a:ext>
                </a:extLst>
              </p:cNvPr>
              <p:cNvSpPr txBox="1"/>
              <p:nvPr/>
            </p:nvSpPr>
            <p:spPr>
              <a:xfrm>
                <a:off x="-132735" y="1868061"/>
                <a:ext cx="11823290" cy="457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Suppose we have an integral with 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term inside of a square root or square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want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to equal a squared term…this gets rid of our square root or simplifies our square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How do we do that?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know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If we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we get: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This is a squared term!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6FA30B-925A-54FE-754B-F0EB6771B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735" y="1868061"/>
                <a:ext cx="11823290" cy="4571829"/>
              </a:xfrm>
              <a:prstGeom prst="rect">
                <a:avLst/>
              </a:prstGeom>
              <a:blipFill>
                <a:blip r:embed="rId4"/>
                <a:stretch>
                  <a:fillRect t="-933" b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6E3BD-FC19-5EBF-0865-07F6956EE69F}"/>
                  </a:ext>
                </a:extLst>
              </p:cNvPr>
              <p:cNvSpPr txBox="1"/>
              <p:nvPr/>
            </p:nvSpPr>
            <p:spPr>
              <a:xfrm>
                <a:off x="1066801" y="4390350"/>
                <a:ext cx="49603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C6E3BD-FC19-5EBF-0865-07F6956EE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4390350"/>
                <a:ext cx="496037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95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BF950-F5EA-F0AE-AB2B-5E1F70C4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1996B8-C1DE-246B-BBF5-3A9206C85F82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ACB180-5E7A-E7CD-F4E5-9F3AE86247C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990010-8A69-0689-4BDE-8AA9A90FAC99}"/>
                  </a:ext>
                </a:extLst>
              </p:cNvPr>
              <p:cNvSpPr txBox="1"/>
              <p:nvPr/>
            </p:nvSpPr>
            <p:spPr>
              <a:xfrm>
                <a:off x="-132735" y="1868061"/>
                <a:ext cx="11823290" cy="450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How does this work in practice?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Consider 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have a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−4)</m:t>
                    </m:r>
                  </m:oMath>
                </a14:m>
                <a:r>
                  <a:rPr lang="en-US" sz="2400" dirty="0"/>
                  <a:t> term inside a square root, and U-Substitution doesn’t work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By Trig Substitution, we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Now we rewrite our integral in terms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. This also means rewriting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 in terms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sec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⇒        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sec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990010-8A69-0689-4BDE-8AA9A90F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735" y="1868061"/>
                <a:ext cx="11823290" cy="4508991"/>
              </a:xfrm>
              <a:prstGeom prst="rect">
                <a:avLst/>
              </a:prstGeom>
              <a:blipFill>
                <a:blip r:embed="rId3"/>
                <a:stretch>
                  <a:fillRect t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2157A9-9807-8D36-27CC-F80C8CB602D2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3: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2157A9-9807-8D36-27CC-F80C8CB60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4"/>
                <a:stretch>
                  <a:fillRect t="-11111" r="-565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D77AAB-4C2B-F10C-8E14-33E539E4579A}"/>
                  </a:ext>
                </a:extLst>
              </p:cNvPr>
              <p:cNvSpPr txBox="1"/>
              <p:nvPr/>
            </p:nvSpPr>
            <p:spPr>
              <a:xfrm>
                <a:off x="1814593" y="2347220"/>
                <a:ext cx="1825115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D77AAB-4C2B-F10C-8E14-33E539E4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593" y="2347220"/>
                <a:ext cx="1825115" cy="968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930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28266-2547-FC08-BCAC-22321ECB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1BBE45-74AA-312D-C253-285F8E8F073C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BDAEA-6164-2DDE-DF34-D28ECB31E0D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CEC213-7857-E737-8D77-9B731D5C7CC2}"/>
                  </a:ext>
                </a:extLst>
              </p:cNvPr>
              <p:cNvSpPr txBox="1"/>
              <p:nvPr/>
            </p:nvSpPr>
            <p:spPr>
              <a:xfrm>
                <a:off x="229261" y="1873080"/>
                <a:ext cx="8038483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sec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⁡(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1)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CEC213-7857-E737-8D77-9B731D5C7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61" y="1873080"/>
                <a:ext cx="8038483" cy="968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F44336-2D0C-7068-FAC2-12D285B7E37F}"/>
                  </a:ext>
                </a:extLst>
              </p:cNvPr>
              <p:cNvSpPr txBox="1"/>
              <p:nvPr/>
            </p:nvSpPr>
            <p:spPr>
              <a:xfrm>
                <a:off x="226143" y="3269607"/>
                <a:ext cx="7935121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F44336-2D0C-7068-FAC2-12D285B7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3" y="3269607"/>
                <a:ext cx="7935121" cy="968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674AE2-A8C7-05B3-9B21-5A3D42447D9C}"/>
                  </a:ext>
                </a:extLst>
              </p:cNvPr>
              <p:cNvSpPr txBox="1"/>
              <p:nvPr/>
            </p:nvSpPr>
            <p:spPr>
              <a:xfrm>
                <a:off x="226143" y="4666135"/>
                <a:ext cx="7295330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sec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674AE2-A8C7-05B3-9B21-5A3D42447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3" y="4666135"/>
                <a:ext cx="7295330" cy="968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F77B9-703B-8709-E7DD-54957C19537A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F77B9-703B-8709-E7DD-54957C195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6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97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D7B5-BAC4-B407-738F-B0F195E2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D58178-C488-3BC9-62ED-47983A73BA7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B6502D-BEF1-1B1A-091B-0A4519F30F2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6BEA4E-332B-DEB4-CBD4-E69D2D1E75BE}"/>
                  </a:ext>
                </a:extLst>
              </p:cNvPr>
              <p:cNvSpPr txBox="1"/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3600" b="1" dirty="0">
                    <a:solidFill>
                      <a:schemeClr val="bg1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36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>
                    <a:solidFill>
                      <a:schemeClr val="bg1"/>
                    </a:solidFill>
                  </a:rPr>
                  <a:t> term inside square/square root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6BEA4E-332B-DEB4-CBD4-E69D2D1E7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6" y="398036"/>
                <a:ext cx="10795819" cy="658898"/>
              </a:xfrm>
              <a:prstGeom prst="rect">
                <a:avLst/>
              </a:prstGeom>
              <a:blipFill>
                <a:blip r:embed="rId3"/>
                <a:stretch>
                  <a:fillRect t="-11111" r="-847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40B2A9-376D-F264-FAC1-95381A7362C5}"/>
                  </a:ext>
                </a:extLst>
              </p:cNvPr>
              <p:cNvSpPr txBox="1"/>
              <p:nvPr/>
            </p:nvSpPr>
            <p:spPr>
              <a:xfrm>
                <a:off x="179437" y="1863042"/>
                <a:ext cx="9859297" cy="584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know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40B2A9-376D-F264-FAC1-95381A736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7" y="1863042"/>
                <a:ext cx="9859297" cy="584584"/>
              </a:xfrm>
              <a:prstGeom prst="rect">
                <a:avLst/>
              </a:prstGeom>
              <a:blipFill>
                <a:blip r:embed="rId4"/>
                <a:stretch>
                  <a:fillRect l="-927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63FF63E-1627-6F87-D5AC-AC694F0AFA20}"/>
              </a:ext>
            </a:extLst>
          </p:cNvPr>
          <p:cNvSpPr/>
          <p:nvPr/>
        </p:nvSpPr>
        <p:spPr>
          <a:xfrm flipH="1">
            <a:off x="772446" y="2632587"/>
            <a:ext cx="3913239" cy="1592826"/>
          </a:xfrm>
          <a:prstGeom prst="rt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297D74-3D63-F541-F6A9-962B4B58CC95}"/>
                  </a:ext>
                </a:extLst>
              </p:cNvPr>
              <p:cNvSpPr txBox="1"/>
              <p:nvPr/>
            </p:nvSpPr>
            <p:spPr>
              <a:xfrm>
                <a:off x="4703505" y="3167390"/>
                <a:ext cx="319548" cy="648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297D74-3D63-F541-F6A9-962B4B58C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505" y="3167390"/>
                <a:ext cx="319548" cy="648767"/>
              </a:xfrm>
              <a:prstGeom prst="rect">
                <a:avLst/>
              </a:prstGeom>
              <a:blipFill>
                <a:blip r:embed="rId5"/>
                <a:stretch>
                  <a:fillRect r="-3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CA0DF1-A7C2-B040-B11F-2A72608F0242}"/>
                  </a:ext>
                </a:extLst>
              </p:cNvPr>
              <p:cNvSpPr txBox="1"/>
              <p:nvPr/>
            </p:nvSpPr>
            <p:spPr>
              <a:xfrm>
                <a:off x="2569291" y="4187105"/>
                <a:ext cx="3195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CA0DF1-A7C2-B040-B11F-2A72608F0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1" y="4187105"/>
                <a:ext cx="31954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0D3042-D802-8786-E9C7-31FD2E62F96D}"/>
                  </a:ext>
                </a:extLst>
              </p:cNvPr>
              <p:cNvSpPr txBox="1"/>
              <p:nvPr/>
            </p:nvSpPr>
            <p:spPr>
              <a:xfrm>
                <a:off x="2013769" y="3692723"/>
                <a:ext cx="5555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0D3042-D802-8786-E9C7-31FD2E62F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769" y="3692723"/>
                <a:ext cx="55552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c 12">
            <a:extLst>
              <a:ext uri="{FF2B5EF4-FFF2-40B4-BE49-F238E27FC236}">
                <a16:creationId xmlns:a16="http://schemas.microsoft.com/office/drawing/2014/main" id="{0F17748F-3B55-766A-F185-581916C9DF78}"/>
              </a:ext>
            </a:extLst>
          </p:cNvPr>
          <p:cNvSpPr/>
          <p:nvPr/>
        </p:nvSpPr>
        <p:spPr>
          <a:xfrm>
            <a:off x="1779639" y="3817408"/>
            <a:ext cx="319548" cy="6096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02EB1C-41BE-C97D-5F7A-DB8132EF2891}"/>
                  </a:ext>
                </a:extLst>
              </p:cNvPr>
              <p:cNvSpPr txBox="1"/>
              <p:nvPr/>
            </p:nvSpPr>
            <p:spPr>
              <a:xfrm rot="20304291">
                <a:off x="2324448" y="2927466"/>
                <a:ext cx="3195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02EB1C-41BE-C97D-5F7A-DB8132EF2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04291">
                <a:off x="2324448" y="2927466"/>
                <a:ext cx="31954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FB4CE5-26E8-BB2D-CB61-C3F29AD38D8C}"/>
                  </a:ext>
                </a:extLst>
              </p:cNvPr>
              <p:cNvSpPr txBox="1"/>
              <p:nvPr/>
            </p:nvSpPr>
            <p:spPr>
              <a:xfrm>
                <a:off x="179437" y="4757790"/>
                <a:ext cx="3931059" cy="716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Therefore,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e>
                        </m:rad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FB4CE5-26E8-BB2D-CB61-C3F29AD38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7" y="4757790"/>
                <a:ext cx="3931059" cy="716991"/>
              </a:xfrm>
              <a:prstGeom prst="rect">
                <a:avLst/>
              </a:prstGeom>
              <a:blipFill>
                <a:blip r:embed="rId9"/>
                <a:stretch>
                  <a:fillRect l="-2326" b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AF6A23-3E87-ACB2-9EEA-81013B19057C}"/>
                  </a:ext>
                </a:extLst>
              </p:cNvPr>
              <p:cNvSpPr txBox="1"/>
              <p:nvPr/>
            </p:nvSpPr>
            <p:spPr>
              <a:xfrm>
                <a:off x="-200948" y="5514658"/>
                <a:ext cx="10111863" cy="127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⁡|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</m:e>
                          </m:rad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AF6A23-3E87-ACB2-9EEA-81013B190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948" y="5514658"/>
                <a:ext cx="10111863" cy="12726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38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975</Words>
  <Application>Microsoft Office PowerPoint</Application>
  <PresentationFormat>Widescreen</PresentationFormat>
  <Paragraphs>161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7</cp:revision>
  <cp:lastPrinted>2025-08-21T02:00:35Z</cp:lastPrinted>
  <dcterms:created xsi:type="dcterms:W3CDTF">2025-08-20T23:47:39Z</dcterms:created>
  <dcterms:modified xsi:type="dcterms:W3CDTF">2026-01-28T03:55:54Z</dcterms:modified>
</cp:coreProperties>
</file>