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05_6F459742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9" r:id="rId3"/>
    <p:sldId id="260" r:id="rId4"/>
    <p:sldId id="261" r:id="rId5"/>
  </p:sldIdLst>
  <p:sldSz cx="12192000" cy="6858000"/>
  <p:notesSz cx="6858000" cy="88915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7D359C8-AACA-2EA8-D24E-0AAD455781CC}" name="Jacob Wyngaard" initials="JW" userId="6181fcd471e98458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B0E"/>
    <a:srgbClr val="D5D668"/>
    <a:srgbClr val="064EA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65A477-C81A-4543-8298-7F96CB0B79E3}" v="36" dt="2026-01-28T04:01:02.6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3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Wyngaard" userId="6181fcd471e98458" providerId="LiveId" clId="{788BA123-62C9-4DDC-86E5-A6BCA4600216}"/>
    <pc:docChg chg="undo custSel addSld modSld">
      <pc:chgData name="Jacob Wyngaard" userId="6181fcd471e98458" providerId="LiveId" clId="{788BA123-62C9-4DDC-86E5-A6BCA4600216}" dt="2026-01-28T04:01:22.628" v="449" actId="948"/>
      <pc:docMkLst>
        <pc:docMk/>
      </pc:docMkLst>
      <pc:sldChg chg="modSp mod">
        <pc:chgData name="Jacob Wyngaard" userId="6181fcd471e98458" providerId="LiveId" clId="{788BA123-62C9-4DDC-86E5-A6BCA4600216}" dt="2026-01-28T04:00:56.838" v="446" actId="20577"/>
        <pc:sldMkLst>
          <pc:docMk/>
          <pc:sldMk cId="1488381102" sldId="260"/>
        </pc:sldMkLst>
        <pc:spChg chg="mod">
          <ac:chgData name="Jacob Wyngaard" userId="6181fcd471e98458" providerId="LiveId" clId="{788BA123-62C9-4DDC-86E5-A6BCA4600216}" dt="2026-01-28T04:00:56.838" v="446" actId="20577"/>
          <ac:spMkLst>
            <pc:docMk/>
            <pc:sldMk cId="1488381102" sldId="260"/>
            <ac:spMk id="3" creationId="{1DBB1AA2-2503-78BC-7F03-182CD5E9A9E9}"/>
          </ac:spMkLst>
        </pc:spChg>
        <pc:spChg chg="mod">
          <ac:chgData name="Jacob Wyngaard" userId="6181fcd471e98458" providerId="LiveId" clId="{788BA123-62C9-4DDC-86E5-A6BCA4600216}" dt="2026-01-28T03:56:07.679" v="1" actId="1076"/>
          <ac:spMkLst>
            <pc:docMk/>
            <pc:sldMk cId="1488381102" sldId="260"/>
            <ac:spMk id="9" creationId="{3C1B3A1F-34F5-947C-A01F-DAC179A51FDD}"/>
          </ac:spMkLst>
        </pc:spChg>
      </pc:sldChg>
      <pc:sldChg chg="modSp add mod">
        <pc:chgData name="Jacob Wyngaard" userId="6181fcd471e98458" providerId="LiveId" clId="{788BA123-62C9-4DDC-86E5-A6BCA4600216}" dt="2026-01-28T04:01:22.628" v="449" actId="948"/>
        <pc:sldMkLst>
          <pc:docMk/>
          <pc:sldMk cId="1866831682" sldId="261"/>
        </pc:sldMkLst>
        <pc:spChg chg="mod">
          <ac:chgData name="Jacob Wyngaard" userId="6181fcd471e98458" providerId="LiveId" clId="{788BA123-62C9-4DDC-86E5-A6BCA4600216}" dt="2026-01-28T04:01:22.628" v="449" actId="948"/>
          <ac:spMkLst>
            <pc:docMk/>
            <pc:sldMk cId="1866831682" sldId="261"/>
            <ac:spMk id="3" creationId="{99556E48-2EBE-3883-88B2-9FB789BAEE88}"/>
          </ac:spMkLst>
        </pc:spChg>
        <pc:spChg chg="mod">
          <ac:chgData name="Jacob Wyngaard" userId="6181fcd471e98458" providerId="LiveId" clId="{788BA123-62C9-4DDC-86E5-A6BCA4600216}" dt="2026-01-28T03:57:44.720" v="5" actId="1076"/>
          <ac:spMkLst>
            <pc:docMk/>
            <pc:sldMk cId="1866831682" sldId="261"/>
            <ac:spMk id="6" creationId="{D05B30B8-3038-36F9-737D-05797B003FA0}"/>
          </ac:spMkLst>
        </pc:spChg>
        <pc:spChg chg="mod">
          <ac:chgData name="Jacob Wyngaard" userId="6181fcd471e98458" providerId="LiveId" clId="{788BA123-62C9-4DDC-86E5-A6BCA4600216}" dt="2026-01-28T03:57:03.551" v="3" actId="1076"/>
          <ac:spMkLst>
            <pc:docMk/>
            <pc:sldMk cId="1866831682" sldId="261"/>
            <ac:spMk id="9" creationId="{F5056E7D-572C-45DC-A120-FC2AAEEE86C5}"/>
          </ac:spMkLst>
        </pc:spChg>
      </pc:sldChg>
    </pc:docChg>
  </pc:docChgLst>
</pc:chgInfo>
</file>

<file path=ppt/comments/modernComment_105_6F45974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9B21692-3D29-4540-9F3A-6DE8065ACD34}" authorId="{27D359C8-AACA-2EA8-D24E-0AAD455781CC}" created="2026-01-28T03:59:31.23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866831682" sldId="261"/>
      <ac:spMk id="3" creationId="{99556E48-2EBE-3883-88B2-9FB789BAEE88}"/>
    </ac:deMkLst>
    <p188:txBody>
      <a:bodyPr/>
      <a:lstStyle/>
      <a:p>
        <a:r>
          <a:rPr lang="en-US"/>
          <a:t>Will we cover more complicated cases?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1EB116-73EE-4936-876D-CA605434604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62000" y="1111250"/>
            <a:ext cx="5334000" cy="3000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278313"/>
            <a:ext cx="5486400" cy="35020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44550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44550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4C46F5-682E-4C43-810E-48CF7D15B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85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8230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72D86-6B93-8316-59C5-8C22E38AC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907ABA-A1A5-C465-89E9-E6C6040A26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7FAC2C-DC16-6934-1031-88F2AFB2F3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63A0C-7771-C3C2-18FA-2430803EEC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7628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3C03A-62D0-2478-876D-7769E880F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79050D-1566-253A-69EA-852D358E5C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BE69A1-1F44-2D8A-AE5D-2AD0872482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773A2-6C4A-92D7-3C9A-98FA935BA7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73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F67DA-EF88-764F-4BB2-90DD369ECA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31CB49-A6FF-5490-06FF-C691E6E10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6D7E6-71BD-58F2-CBF4-E78503AEC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D95E3-7A82-5D3E-BFDC-1AE7B4748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9A11E-99A9-F23F-4238-A31D781DA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927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F64B2-129B-23A1-2674-8563348AE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7FD9C-0A2E-B601-59FC-3A526EBBC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6DEFB-358E-B6E9-602E-E50D1A5BA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837DC-70E9-4BCE-762A-A3016527F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871CA-989F-854F-0506-DBC06C39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593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24B9F-5339-2DC7-EF1C-7ADE66AAF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F5A0D-A60D-B108-1000-8AB1BEDDE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A1A79-101A-F9D5-2D58-008D93940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96FEA-451C-9BD7-FE85-ABE7721EA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68E22-35AC-C4A7-7DF0-25148A4FD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8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8D99-A43C-243B-C4C8-DD6A377ED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4F5C7-3E98-385C-D4CC-79AA9A576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A97EA5-02FD-3408-9C44-22CA696BE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A5EB16-71B7-FEF2-D131-1DC6215A0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5B5499-CE45-E51E-C9F3-B31DCD75C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EEEB8-6109-294D-EB1A-32BC9A6C5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4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16EFE-93E5-8BCF-08CB-2CFD45401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D2989-0587-FFA8-CA9B-6B1FC2808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ADFDD-D356-34C7-ABB2-12E204D7C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45A8C9-58F4-D8A2-E078-6C86700EB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5961E0-F79F-DC8A-8942-3409FF4ACC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E262B5-71DA-9BC0-4EA2-2B7D366C6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ED025E-4D61-3485-686F-F7FDC83BC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1E9E3-1C2A-3967-AB7D-37A593FD1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099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17C0D-B790-78A5-844C-07DA00A7B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8B3C7A-A272-8A74-FDB0-FF10B7AF7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E517F-231E-473E-2A52-0DBD0429B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0E8D7-AEF1-33EF-5C16-F459BB1F5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07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3CB47C-D1EE-D077-3BEF-928DF2122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751ED4-DC95-A9E0-24B4-C2DCA6CB5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0BDA7-CF32-77AD-D5CE-23B56BC2F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12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742E5-59E4-6D3E-78BE-A1E0FD169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9E5C4-4836-AEE1-B05E-74FDAD2EF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81F0D4-A283-375A-35D9-26B05BFBD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6B98DC-0C98-0E90-27A7-75B4CAFE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80928-22DB-5761-6D60-267606D08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FF7E1-E86C-19C0-0A2C-5A4E7FB38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130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E0DA3-7875-1508-B11E-26D67ED2C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4211B7-5EEF-8BCE-B12B-6DEA70B8F0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EC012-F909-E4E6-108A-9A27D6B2EE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0A5A7-09B3-7AD1-786E-53E840446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CA55B-44A9-BB54-0C67-0AFC84A38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7F222-9F9A-9E7F-90EE-737ADC31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957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B68E4-12C6-EA01-70EB-D1FAC1AF9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1CB90F-6B0E-ACFF-CC12-B1507D46E3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B0E2F-8C14-7F4B-68F3-EE72E41F1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771C8-4AEB-0EA1-C952-CDA04AAD3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CEBF8-7B84-5F80-4F7D-AF4F5DBD7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980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531484-78AC-FB0F-7630-C4370575FE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2053D0-EB63-CDF3-BF9D-35E71B339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C4B92-42E9-67BF-9B36-EA7CF5677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9637F-4C75-7B24-2A1D-152979DF6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CF603-77C0-B9F2-A64B-E73520BA8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799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00D885-ED30-8EA9-7F49-AFA92BBC5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E0D96-F750-2F67-FAFA-EA3A47809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ADF68-C2D2-7D96-F604-E6D5948605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9DFCA7-2E84-49E5-A4F2-77D92A699F3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578D3-0307-EBF0-53AA-0815083E16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E9A0A-1B61-6FF9-649F-8F9311932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118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5_6F45974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4C1F8D5-4AD3-CA6D-CA09-1F939BFFC77B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ADB15C-53EA-0ED4-E0E9-C6A73C390DD1}"/>
              </a:ext>
            </a:extLst>
          </p:cNvPr>
          <p:cNvSpPr/>
          <p:nvPr/>
        </p:nvSpPr>
        <p:spPr>
          <a:xfrm>
            <a:off x="6095999" y="0"/>
            <a:ext cx="383459" cy="6858000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41FF28-576E-AE9D-45ED-6C6260407807}"/>
              </a:ext>
            </a:extLst>
          </p:cNvPr>
          <p:cNvSpPr txBox="1"/>
          <p:nvPr/>
        </p:nvSpPr>
        <p:spPr>
          <a:xfrm>
            <a:off x="294968" y="1152313"/>
            <a:ext cx="550606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MATH 242 </a:t>
            </a:r>
          </a:p>
          <a:p>
            <a:pPr algn="ctr"/>
            <a:r>
              <a:rPr lang="en-US" sz="4000" b="1" dirty="0">
                <a:solidFill>
                  <a:schemeClr val="bg1"/>
                </a:solidFill>
              </a:rPr>
              <a:t>Analytic Geometry and Calculus 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414A67-3F86-5A8F-0EE3-3803EFD0BEF8}"/>
              </a:ext>
            </a:extLst>
          </p:cNvPr>
          <p:cNvSpPr txBox="1"/>
          <p:nvPr/>
        </p:nvSpPr>
        <p:spPr>
          <a:xfrm>
            <a:off x="2104102" y="3091305"/>
            <a:ext cx="1681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Section 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154025-07E0-36B3-2DA4-1831685F14E6}"/>
              </a:ext>
            </a:extLst>
          </p:cNvPr>
          <p:cNvSpPr txBox="1"/>
          <p:nvPr/>
        </p:nvSpPr>
        <p:spPr>
          <a:xfrm>
            <a:off x="1049592" y="3552970"/>
            <a:ext cx="3996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Instructor: Jacob Wyngaard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1C48F4-EC8B-9D87-E495-936CA1EC5A08}"/>
              </a:ext>
            </a:extLst>
          </p:cNvPr>
          <p:cNvSpPr txBox="1"/>
          <p:nvPr/>
        </p:nvSpPr>
        <p:spPr>
          <a:xfrm>
            <a:off x="191728" y="4390856"/>
            <a:ext cx="55060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Integration of Rational Functions and Partial Fractions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371A90-B52D-E6E5-623C-66B986F967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875"/>
          <a:stretch>
            <a:fillRect/>
          </a:stretch>
        </p:blipFill>
        <p:spPr>
          <a:xfrm>
            <a:off x="6479458" y="3719668"/>
            <a:ext cx="5735381" cy="30043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DB6994-0D6B-FF95-9B8F-20F0EA24D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4975" y="259823"/>
            <a:ext cx="4182960" cy="4082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112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B4674-EB63-8CB1-A781-43C74EE64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CD957CD-E909-9DBE-97C3-242C827EC247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3DD7A4-64F0-2B29-E978-6DAC9BCA10DC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43209B-C381-F683-2264-D243348F0B95}"/>
              </a:ext>
            </a:extLst>
          </p:cNvPr>
          <p:cNvSpPr txBox="1"/>
          <p:nvPr/>
        </p:nvSpPr>
        <p:spPr>
          <a:xfrm>
            <a:off x="4513005" y="400100"/>
            <a:ext cx="42917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Background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059FC0-8796-1ECD-C623-A630EE4D1B17}"/>
              </a:ext>
            </a:extLst>
          </p:cNvPr>
          <p:cNvSpPr txBox="1"/>
          <p:nvPr/>
        </p:nvSpPr>
        <p:spPr>
          <a:xfrm>
            <a:off x="0" y="1729684"/>
            <a:ext cx="11897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Rational functions are fractions involving two polynomials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71AC4EF-BADE-37E0-4CCF-70B0BB7F305D}"/>
                  </a:ext>
                </a:extLst>
              </p:cNvPr>
              <p:cNvSpPr txBox="1"/>
              <p:nvPr/>
            </p:nvSpPr>
            <p:spPr>
              <a:xfrm>
                <a:off x="1302774" y="2359185"/>
                <a:ext cx="2103781" cy="8166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sSup>
                            <m:sSup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−17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+9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71AC4EF-BADE-37E0-4CCF-70B0BB7F30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2774" y="2359185"/>
                <a:ext cx="2103781" cy="8166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EB4C573-2918-AE75-188E-FA4AC30FF98F}"/>
                  </a:ext>
                </a:extLst>
              </p:cNvPr>
              <p:cNvSpPr txBox="1"/>
              <p:nvPr/>
            </p:nvSpPr>
            <p:spPr>
              <a:xfrm>
                <a:off x="5152103" y="2359185"/>
                <a:ext cx="1077346" cy="8645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num>
                        <m:den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EB4C573-2918-AE75-188E-FA4AC30FF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2103" y="2359185"/>
                <a:ext cx="1077346" cy="8645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E2C5C10-6F69-39AE-D7DA-B342A7F61419}"/>
                  </a:ext>
                </a:extLst>
              </p:cNvPr>
              <p:cNvSpPr txBox="1"/>
              <p:nvPr/>
            </p:nvSpPr>
            <p:spPr>
              <a:xfrm>
                <a:off x="8266113" y="2359185"/>
                <a:ext cx="1706236" cy="8166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E2C5C10-6F69-39AE-D7DA-B342A7F614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6113" y="2359185"/>
                <a:ext cx="1706236" cy="8166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2C6C1EFB-D866-FF81-E86C-FA8BE2FC4F46}"/>
              </a:ext>
            </a:extLst>
          </p:cNvPr>
          <p:cNvSpPr txBox="1"/>
          <p:nvPr/>
        </p:nvSpPr>
        <p:spPr>
          <a:xfrm>
            <a:off x="-54239" y="3441680"/>
            <a:ext cx="1189703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Rational functions are called </a:t>
            </a:r>
            <a:r>
              <a:rPr lang="en-US" sz="2400" b="1" dirty="0"/>
              <a:t>improper</a:t>
            </a:r>
            <a:r>
              <a:rPr lang="en-US" sz="2400" dirty="0"/>
              <a:t> if the degree of the numerator polynomial is greater than the degree of the denominator polynomial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Rational functions are called </a:t>
            </a:r>
            <a:r>
              <a:rPr lang="en-US" sz="2400" b="1" dirty="0"/>
              <a:t>proper</a:t>
            </a:r>
            <a:r>
              <a:rPr lang="en-US" sz="2400" dirty="0"/>
              <a:t> if the degree of the numerator polynomial is less than the degree of the denominator polynomial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Today’s lecture covers integrating proper rational functions. If you want to integrate improper rational functions, you convert to proper by polynomial long division (not covered in MATH 242)</a:t>
            </a:r>
          </a:p>
        </p:txBody>
      </p:sp>
    </p:spTree>
    <p:extLst>
      <p:ext uri="{BB962C8B-B14F-4D97-AF65-F5344CB8AC3E}">
        <p14:creationId xmlns:p14="http://schemas.microsoft.com/office/powerpoint/2010/main" val="1388335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B38CA-B87B-50E1-194C-3D39E7994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96AEB46-3E7D-116E-16A3-D0976A60DDA6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F79E5D-196D-A0D2-55EF-9E7AB5F5006D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1B3A1F-34F5-947C-A01F-DAC179A51FDD}"/>
              </a:ext>
            </a:extLst>
          </p:cNvPr>
          <p:cNvSpPr txBox="1"/>
          <p:nvPr/>
        </p:nvSpPr>
        <p:spPr>
          <a:xfrm>
            <a:off x="2861188" y="412614"/>
            <a:ext cx="80477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Partial Fraction Decomposition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DBB1AA2-2503-78BC-7F03-182CD5E9A9E9}"/>
                  </a:ext>
                </a:extLst>
              </p:cNvPr>
              <p:cNvSpPr txBox="1"/>
              <p:nvPr/>
            </p:nvSpPr>
            <p:spPr>
              <a:xfrm>
                <a:off x="0" y="1729684"/>
                <a:ext cx="11897032" cy="52794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400" dirty="0"/>
                  <a:t>To integrate a proper rational function, we’re going to learn a technique called </a:t>
                </a:r>
                <a:r>
                  <a:rPr lang="en-US" sz="2400" b="1" dirty="0"/>
                  <a:t>partial fraction decomposition</a:t>
                </a:r>
              </a:p>
              <a:p>
                <a:pPr lvl="1"/>
                <a:endParaRPr lang="en-US" sz="2400" b="1" dirty="0"/>
              </a:p>
              <a:p>
                <a:pPr lvl="1"/>
                <a:r>
                  <a:rPr lang="en-US" sz="2400" dirty="0"/>
                  <a:t>The basic idea is that the take a rational function like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+5</m:t>
                        </m:r>
                      </m:num>
                      <m:den>
                        <m:sSup>
                          <m:sSup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den>
                    </m:f>
                  </m:oMath>
                </a14:m>
                <a:r>
                  <a:rPr lang="en-US" sz="2400" dirty="0"/>
                  <a:t> and we simplify in terms of simpler rational functions:</a:t>
                </a:r>
              </a:p>
              <a:p>
                <a:pPr lvl="1"/>
                <a:endParaRPr lang="en-US" sz="240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+5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 lvl="1"/>
                <a:endParaRPr lang="en-US" sz="2400" dirty="0"/>
              </a:p>
              <a:p>
                <a:pPr lvl="1">
                  <a:spcAft>
                    <a:spcPts val="1200"/>
                  </a:spcAft>
                </a:pPr>
                <a:r>
                  <a:rPr lang="en-US" sz="2400" dirty="0"/>
                  <a:t>That way, integration is </a:t>
                </a:r>
                <a:r>
                  <a:rPr lang="en-US" sz="2400" u="sng" dirty="0"/>
                  <a:t>way</a:t>
                </a:r>
                <a:r>
                  <a:rPr lang="en-US" sz="2400" dirty="0"/>
                  <a:t> easier</a:t>
                </a:r>
              </a:p>
              <a:p>
                <a:pPr lvl="1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+5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den>
                              </m:f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</m:den>
                              </m:f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DBB1AA2-2503-78BC-7F03-182CD5E9A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729684"/>
                <a:ext cx="11897032" cy="5279459"/>
              </a:xfrm>
              <a:prstGeom prst="rect">
                <a:avLst/>
              </a:prstGeom>
              <a:blipFill>
                <a:blip r:embed="rId3"/>
                <a:stretch>
                  <a:fillRect t="-924" r="-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8381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431D9-6C69-29EA-60F7-FFE79D73A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05B30B8-3038-36F9-737D-05797B003FA0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BAC7AB-F97B-E896-898A-5B5354D1A3D3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056E7D-572C-45DC-A120-FC2AAEEE86C5}"/>
              </a:ext>
            </a:extLst>
          </p:cNvPr>
          <p:cNvSpPr txBox="1"/>
          <p:nvPr/>
        </p:nvSpPr>
        <p:spPr>
          <a:xfrm>
            <a:off x="2674375" y="393743"/>
            <a:ext cx="80477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Partial Fraction Decomposition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9556E48-2EBE-3883-88B2-9FB789BAEE88}"/>
                  </a:ext>
                </a:extLst>
              </p:cNvPr>
              <p:cNvSpPr txBox="1"/>
              <p:nvPr/>
            </p:nvSpPr>
            <p:spPr>
              <a:xfrm>
                <a:off x="0" y="1729684"/>
                <a:ext cx="11897032" cy="46928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>
                  <a:spcAft>
                    <a:spcPts val="1200"/>
                  </a:spcAft>
                </a:pPr>
                <a:r>
                  <a:rPr lang="en-US" sz="2400" dirty="0"/>
                  <a:t>There are three cases of partial fraction decomposition that we’ll investigate: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Case 1: The denominator is the product of distinct linear factors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Case 2: The denominator is the product of repeated linear factors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Case 3: The denominator contains irreducible quadratic factors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lvl="1"/>
                <a:r>
                  <a:rPr lang="en-US" sz="2400" dirty="0"/>
                  <a:t>Remember, when we go to integrate the simplified fractions, 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𝑎𝑥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9556E48-2EBE-3883-88B2-9FB789BAE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729684"/>
                <a:ext cx="11897032" cy="4692823"/>
              </a:xfrm>
              <a:prstGeom prst="rect">
                <a:avLst/>
              </a:prstGeom>
              <a:blipFill>
                <a:blip r:embed="rId4"/>
                <a:stretch>
                  <a:fillRect t="-10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683168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907</TotalTime>
  <Words>232</Words>
  <Application>Microsoft Office PowerPoint</Application>
  <PresentationFormat>Widescreen</PresentationFormat>
  <Paragraphs>38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Wyngaard</dc:creator>
  <cp:lastModifiedBy>Jacob Wyngaard</cp:lastModifiedBy>
  <cp:revision>7</cp:revision>
  <cp:lastPrinted>2025-08-21T02:00:35Z</cp:lastPrinted>
  <dcterms:created xsi:type="dcterms:W3CDTF">2025-08-20T23:47:39Z</dcterms:created>
  <dcterms:modified xsi:type="dcterms:W3CDTF">2026-01-28T04:01:28Z</dcterms:modified>
</cp:coreProperties>
</file>